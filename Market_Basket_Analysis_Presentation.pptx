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3A5C"/>
                </a:solidFill>
                <a:latin typeface="Arial"/>
              </a:rPr>
              <a:t>Top 5 Products by Support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 %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6FA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5C1E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Whole Milk</c:v>
                  </c:pt>
                  <c:pt idx="1">
                    <c:v>Other Veg</c:v>
                  </c:pt>
                  <c:pt idx="2">
                    <c:v>Rolls/Buns</c:v>
                  </c:pt>
                  <c:pt idx="3">
                    <c:v>Soda</c:v>
                  </c:pt>
                  <c:pt idx="4">
                    <c:v>Yogurt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19</c:v>
                </c:pt>
                <c:pt idx="2">
                  <c:v>18</c:v>
                </c:pt>
                <c:pt idx="3">
                  <c:v>17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3A5C"/>
                </a:solidFill>
                <a:latin typeface="Arial"/>
              </a:rPr>
              <a:t>Top 5 Pairs by Support (of 61 pairs ≥ 2%)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 %</c:v>
                </c:pt>
              </c:strCache>
            </c:strRef>
          </c:tx>
          <c:spPr>
            <a:solidFill>
              <a:srgbClr val="1A52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6F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5C1E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OV + WM</c:v>
                  </c:pt>
                  <c:pt idx="1">
                    <c:v>R/B + WM</c:v>
                  </c:pt>
                  <c:pt idx="2">
                    <c:v>OV + R/B</c:v>
                  </c:pt>
                  <c:pt idx="3">
                    <c:v>OV + Yogurt</c:v>
                  </c:pt>
                  <c:pt idx="4">
                    <c:v>WM + Yogurt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5.66</c:v>
                </c:pt>
                <c:pt idx="2">
                  <c:v>5.6</c:v>
                </c:pt>
                <c:pt idx="3">
                  <c:v>3.93</c:v>
                </c:pt>
                <c:pt idx="4">
                  <c:v>3.51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3A5C"/>
                </a:solidFill>
                <a:latin typeface="Arial"/>
              </a:rPr>
              <a:t>Top Rule Confidence (%) → All → Whole Milk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 %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Curd+Yogurt</c:v>
                  </c:pt>
                  <c:pt idx="1">
                    <c:v>OV+Butter</c:v>
                  </c:pt>
                  <c:pt idx="2">
                    <c:v>TF+Yogurt</c:v>
                  </c:pt>
                  <c:pt idx="3">
                    <c:v>OV+Yogurt</c:v>
                  </c:pt>
                  <c:pt idx="4">
                    <c:v>PF+OV</c:v>
                  </c:pt>
                  <c:pt idx="5">
                    <c:v>Citrus+OV</c:v>
                  </c:pt>
                  <c:pt idx="6">
                    <c:v>RV+OV</c:v>
                  </c:pt>
                  <c:pt idx="7">
                    <c:v>OV+WC</c:v>
                  </c:pt>
                  <c:pt idx="8">
                    <c:v>RV+R/B</c:v>
                  </c:pt>
                  <c:pt idx="9">
                    <c:v>R/B+Yogurt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</c:v>
                </c:pt>
                <c:pt idx="1">
                  <c:v>57</c:v>
                </c:pt>
                <c:pt idx="2">
                  <c:v>52</c:v>
                </c:pt>
                <c:pt idx="3">
                  <c:v>51</c:v>
                </c:pt>
                <c:pt idx="4">
                  <c:v>51</c:v>
                </c:pt>
                <c:pt idx="5">
                  <c:v>49</c:v>
                </c:pt>
                <c:pt idx="6">
                  <c:v>49</c:v>
                </c:pt>
                <c:pt idx="7">
                  <c:v>49</c:v>
                </c:pt>
                <c:pt idx="8">
                  <c:v>48</c:v>
                </c:pt>
                <c:pt idx="9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3A5C"/>
                </a:solidFill>
                <a:latin typeface="Arial"/>
              </a:rPr>
              <a:t>Lift Values (All &gt; 1 = positive)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Curd+Yogurt</c:v>
                  </c:pt>
                  <c:pt idx="1">
                    <c:v>OV+Butter</c:v>
                  </c:pt>
                  <c:pt idx="2">
                    <c:v>TF+Yogurt</c:v>
                  </c:pt>
                  <c:pt idx="3">
                    <c:v>OV+Yogurt</c:v>
                  </c:pt>
                  <c:pt idx="4">
                    <c:v>PF+OV</c:v>
                  </c:pt>
                  <c:pt idx="5">
                    <c:v>Citrus+OV</c:v>
                  </c:pt>
                  <c:pt idx="6">
                    <c:v>RV+OV</c:v>
                  </c:pt>
                  <c:pt idx="7">
                    <c:v>OV+WC</c:v>
                  </c:pt>
                  <c:pt idx="8">
                    <c:v>RV+R/B</c:v>
                  </c:pt>
                  <c:pt idx="9">
                    <c:v>R/B+Yogurt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2.28</c:v>
                </c:pt>
                <c:pt idx="1">
                  <c:v>2.24</c:v>
                </c:pt>
                <c:pt idx="2">
                  <c:v>2.04</c:v>
                </c:pt>
                <c:pt idx="3">
                  <c:v>2</c:v>
                </c:pt>
                <c:pt idx="4">
                  <c:v>2</c:v>
                </c:pt>
                <c:pt idx="5">
                  <c:v>1.92</c:v>
                </c:pt>
                <c:pt idx="6">
                  <c:v>1.92</c:v>
                </c:pt>
                <c:pt idx="7">
                  <c:v>1.92</c:v>
                </c:pt>
                <c:pt idx="8">
                  <c:v>1.88</c:v>
                </c:pt>
                <c:pt idx="9">
                  <c:v>1.84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2E86C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82880"/>
            <a:ext cx="1828800" cy="1828800"/>
          </a:xfrm>
          <a:prstGeom prst="ellipse">
            <a:avLst/>
          </a:prstGeom>
          <a:solidFill>
            <a:srgbClr val="F0B429">
              <a:alpha val="15000"/>
            </a:srgbClr>
          </a:solidFill>
          <a:ln w="12700">
            <a:solidFill>
              <a:srgbClr val="F0B429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943600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Transactions · Apriori Algorithm · Association Rule Mining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9,835 transactions  ·  169 unique products  ·  Python / mlxtend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in this presentation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5029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2435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tools, and goals of the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77440"/>
            <a:ext cx="5029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786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43230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algorithm, encoding, rule mining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66160"/>
            <a:ext cx="5029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67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62102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Statistics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count, product count, distributions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1887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188720"/>
            <a:ext cx="5029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12435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Selling Items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9496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≥ 2%: five dominant products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3774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377440"/>
            <a:ext cx="5029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786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243230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94960" y="2880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pairs at ≥ 2%; 3 pairs at ≥ 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5661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566160"/>
            <a:ext cx="5029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673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62102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&amp; Key Insights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94960" y="4069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rules, lift analysis, business actions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dataset, and tools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frequent product combinations in grocery transactions.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actionable association rules (A → B) between product categories.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7797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rule strength using support, confidence, and lift metrics.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3467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shelf-placement and cross-sell recommendations.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206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groceries.csv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8562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Transactions: 9,835 baskets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1122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169 unique SKUs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3682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ragged CSV (variable columns per row)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78892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788920"/>
            <a:ext cx="420624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807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273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pandas  ·  numpy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36027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  (TransactionEncoder, apriori, association_rules)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931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·  seaborn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42611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csv.reader  (ragged array loading)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association 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43000"/>
            <a:ext cx="15087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61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175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" y="233172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csv.reader reads ragged CSV rows (variable columns) into a Python list of transactions.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73936" y="2560320"/>
            <a:ext cx="201168" cy="64008"/>
          </a:xfrm>
          <a:prstGeom prst="rect">
            <a:avLst/>
          </a:prstGeom>
          <a:solidFill>
            <a:srgbClr val="6D7E8F"/>
          </a:solidFill>
          <a:ln w="12700">
            <a:solidFill>
              <a:srgbClr val="6D7E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14300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143000"/>
            <a:ext cx="1508760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61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3911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66544" y="233172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TransactionEncoder converts transactions to a 9,835 × 169 binary matrix (1 = purchased).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11296" y="2560320"/>
            <a:ext cx="201168" cy="64008"/>
          </a:xfrm>
          <a:prstGeom prst="rect">
            <a:avLst/>
          </a:prstGeom>
          <a:solidFill>
            <a:srgbClr val="6D7E8F"/>
          </a:solidFill>
          <a:ln w="12700">
            <a:solidFill>
              <a:srgbClr val="6D7E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14300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30752" y="1143000"/>
            <a:ext cx="150876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1161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7647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Filter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03904" y="233172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 prunes itemsets below 2% support, yielding frequent itemsets.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48656" y="2560320"/>
            <a:ext cx="201168" cy="64008"/>
          </a:xfrm>
          <a:prstGeom prst="rect">
            <a:avLst/>
          </a:prstGeom>
          <a:solidFill>
            <a:srgbClr val="6D7E8F"/>
          </a:solidFill>
          <a:ln w="12700">
            <a:solidFill>
              <a:srgbClr val="6D7E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8112" y="114300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68112" y="1143000"/>
            <a:ext cx="150876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1161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1383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Rules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41264" y="233172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association_rules() derives all A → B rules; each is scored on support, confidence, lift.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86016" y="2560320"/>
            <a:ext cx="201168" cy="64008"/>
          </a:xfrm>
          <a:prstGeom prst="rect">
            <a:avLst/>
          </a:prstGeom>
          <a:solidFill>
            <a:srgbClr val="6D7E8F"/>
          </a:solidFill>
          <a:ln w="12700">
            <a:solidFill>
              <a:srgbClr val="6D7E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05472" y="1143000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05472" y="1143000"/>
            <a:ext cx="15087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1161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5119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Interpret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78624" y="2331720"/>
            <a:ext cx="1371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sorted by confidence; filtered by lift &gt; 1 to identify positive associations.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" y="4681728"/>
            <a:ext cx="8631936" cy="3566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7000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Support = P(A∩B)   ·   Confidence = P(B|A) = Support(A∩B) / Support(A)   ·   Lift = Confidence / Support(B)   [ Lift &gt; 1 = positive correlation 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Statistics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numbers from the grocery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9,835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1430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1143000"/>
            <a:ext cx="64008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234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1430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143000"/>
            <a:ext cx="64008" cy="1188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34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Support Threshold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11430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143000"/>
            <a:ext cx="64008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234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2084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with Lift &gt; 1.0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74320" y="2560320"/>
          <a:ext cx="8595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combinations exceeding minimum support thresholds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ITEMSETS WITH SUPPORT ≥ 5%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2834640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600200"/>
            <a:ext cx="1280160" cy="566928"/>
          </a:xfrm>
          <a:prstGeom prst="rect">
            <a:avLst/>
          </a:prstGeom>
          <a:solidFill>
            <a:srgbClr val="2E86C1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73352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 (length 2)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54680" y="16733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28346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2240280"/>
            <a:ext cx="1280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13432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Veg + Whole Milk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4680" y="23134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2880360"/>
            <a:ext cx="1280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53512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Rolls/Buns + Whole Milk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29535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5.66%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520440"/>
            <a:ext cx="283464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3520440"/>
            <a:ext cx="128016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593592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Veg + Rolls/Buns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54680" y="35935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1605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itemsets clear the 5% threshold — joint purchase rate drops sharply beyond single items.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663440" y="1097280"/>
          <a:ext cx="4297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466344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 = Other Veg  ·  WM = Whole Milk  ·  R/B = Rolls/Buns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Association Rules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confidence (descending) · Min support ≥ 2%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310896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1556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  →  Consequent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4992" y="1097280"/>
            <a:ext cx="1691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115568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56632" y="1097280"/>
            <a:ext cx="9601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3208" y="1115568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16752" y="1097280"/>
            <a:ext cx="10058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11556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22592" y="1097280"/>
            <a:ext cx="86868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1115568"/>
            <a:ext cx="813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1481328"/>
            <a:ext cx="310896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499616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Curd + Yogurt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64992" y="1481328"/>
            <a:ext cx="16916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499616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56632" y="1481328"/>
            <a:ext cx="96012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499616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16752" y="1481328"/>
            <a:ext cx="10058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1499616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22592" y="1481328"/>
            <a:ext cx="86868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1499616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1837944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1856232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Veg + Butter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64992" y="1837944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1856232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56632" y="1837944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1856232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16752" y="1837944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1856232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22592" y="183794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1856232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2.24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" y="2194560"/>
            <a:ext cx="310896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2212848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Fruit + Yogurt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64992" y="2194560"/>
            <a:ext cx="16916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0712" y="221284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56632" y="2194560"/>
            <a:ext cx="96012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2212848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16752" y="2194560"/>
            <a:ext cx="10058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2212848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22592" y="2194560"/>
            <a:ext cx="86868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2212848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56032" y="2551176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569464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Veg + Yogurt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64992" y="2551176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10712" y="2569464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56632" y="2551176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2352" y="2569464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16752" y="2551176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2569464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22592" y="2551176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68312" y="2569464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56032" y="2907792"/>
            <a:ext cx="310896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" y="2926080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Fruit + Other Veg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364992" y="2907792"/>
            <a:ext cx="16916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10712" y="2926080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056632" y="2907792"/>
            <a:ext cx="96012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02352" y="2926080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016752" y="2907792"/>
            <a:ext cx="10058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62472" y="2926080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022592" y="2907792"/>
            <a:ext cx="86868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68312" y="2926080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56032" y="3264408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" y="3282696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Fruit + Other Veg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364992" y="3264408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10712" y="3282696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056632" y="3264408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02352" y="3282696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016752" y="326440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62472" y="3282696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022592" y="3264408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68312" y="3282696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56032" y="3621024"/>
            <a:ext cx="310896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" y="3639312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Veg + Other Veg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364992" y="3621024"/>
            <a:ext cx="16916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10712" y="3639312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056632" y="3621024"/>
            <a:ext cx="96012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02352" y="3639312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016752" y="3621024"/>
            <a:ext cx="10058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62472" y="3639312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022592" y="3621024"/>
            <a:ext cx="86868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68312" y="3639312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256032" y="3977640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01752" y="3995928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Veg + Whip. Cream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3364992" y="3977640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10712" y="399592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5056632" y="3977640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02352" y="3995928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6016752" y="3977640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62472" y="3995928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7022592" y="3977640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068312" y="3995928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256032" y="4334256"/>
            <a:ext cx="310896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01752" y="4352544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Veg + Rolls/Buns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3364992" y="4334256"/>
            <a:ext cx="16916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410712" y="4352544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5056632" y="4334256"/>
            <a:ext cx="96012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02352" y="4352544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6016752" y="4334256"/>
            <a:ext cx="100584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062472" y="4352544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7022592" y="4334256"/>
            <a:ext cx="86868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068312" y="4352544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256032" y="4690872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01752" y="4709160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Rolls/Buns + Yogurt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3364992" y="4690872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410712" y="4709160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Whole Milk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056632" y="4690872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02352" y="4709160"/>
            <a:ext cx="886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6016752" y="4690872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62472" y="4709160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7022592" y="4690872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068312" y="4709160"/>
            <a:ext cx="795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&amp; Confidence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rules with Lift &gt; 1.0 and Support ≥ 2%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97280"/>
          <a:ext cx="50292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440680" y="1097280"/>
          <a:ext cx="34290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126 rules show Lift &gt; 1.0, confirming positive correlations throughout the product catalog.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strategies from the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51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73152" cy="1737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3444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Product 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618488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milk (25% support) is the #1 consequent item. Ensure prominent placement and sufficient stock near high-affinity products like yogurt, curd, and other vegetables.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51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73152" cy="1737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23444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Cross-Sell: Veg–Dairy Bundle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618488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Vegetables + Yogurt → Whole Milk has 51% confidence and lift 2.0. A bundled promotion or co-located display in the produce + dairy section can directly lift basket value.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251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63240"/>
            <a:ext cx="73152" cy="17373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5468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Bundles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3538728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"Breakfast Bundle": Rolls/Buns + Whole Milk (5.66% joint support). "Dairy Trio": Curd + Yogurt + Whole Milk (58% confidence). Target these with volume discounts or combo pricing.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251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63240"/>
            <a:ext cx="73152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15468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Layout Optimisation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538728"/>
            <a:ext cx="4005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 whole milk end-caps near the produce aisle. Place yogurt and curd adjacencies within sight lines. Implement directional signage between these sections.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943600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70432"/>
            <a:ext cx="365760" cy="3657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9,835 transactions: 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118872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products analysed using the Apriori algorithm at 2% min. support.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901952"/>
            <a:ext cx="365760" cy="3657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product: Whole Milk: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192024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25% of all transactions; dominant consequent in association rules.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517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6517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product pairs: 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265176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the 2% support threshold; 3 pairs clear 5%, led by Other Veg + Whole Milk (7%).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64992"/>
            <a:ext cx="365760" cy="3657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832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positive rules: 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338328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rules with lift &gt; 1.0 confirm catalog-wide cross-purchase dependencies.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096512"/>
            <a:ext cx="365760" cy="3657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148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114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confidence: 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4114800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— Curd + Yogurt → Whole Milk — strongest actionable rule for promotions.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09160"/>
            <a:ext cx="8229600" cy="36576"/>
          </a:xfrm>
          <a:prstGeom prst="rect">
            <a:avLst/>
          </a:prstGeom>
          <a:solidFill>
            <a:srgbClr val="F0B429">
              <a:alpha val="40000"/>
            </a:srgbClr>
          </a:solidFill>
          <a:ln w="12700">
            <a:solidFill>
              <a:srgbClr val="F0B42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914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  ·  Grocery Transactions Dataset  ·  Data Analytics Team  · 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Basket Analysis</dc:title>
  <dc:subject>PptxGenJS Presentation</dc:subject>
  <dc:creator>Data Analytics Team</dc:creator>
  <cp:lastModifiedBy>Data Analytics Team</cp:lastModifiedBy>
  <cp:revision>1</cp:revision>
  <dcterms:created xsi:type="dcterms:W3CDTF">2026-05-25T11:47:54Z</dcterms:created>
  <dcterms:modified xsi:type="dcterms:W3CDTF">2026-05-25T11:47:54Z</dcterms:modified>
</cp:coreProperties>
</file>